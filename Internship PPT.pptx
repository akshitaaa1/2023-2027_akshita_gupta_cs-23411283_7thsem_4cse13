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87" r:id="rId6"/>
    <p:sldId id="288" r:id="rId7"/>
    <p:sldId id="289" r:id="rId8"/>
    <p:sldId id="290" r:id="rId9"/>
    <p:sldId id="291" r:id="rId10"/>
    <p:sldId id="292" r:id="rId11"/>
    <p:sldId id="286" r:id="rId12"/>
  </p:sldIdLst>
  <p:sldSz cx="12192000" cy="6858000"/>
  <p:notesSz cx="6858000" cy="9144000"/>
  <p:embeddedFontLst>
    <p:embeddedFont>
      <p:font typeface="Play" panose="00000500000000000000"/>
      <p:regular r:id="rId16"/>
      <p:bold r:id="rId17"/>
    </p:embeddedFont>
    <p:embeddedFont>
      <p:font typeface="Calibri" panose="020F0502020204030204"/>
      <p:regular r:id="rId18"/>
      <p:bold r:id="rId19"/>
      <p:italic r:id="rId20"/>
      <p:boldItalic r:id="rId21"/>
    </p:embeddedFont>
    <p:embeddedFont>
      <p:font typeface="Corbel" panose="020B0503020204020204"/>
      <p:regular r:id="rId22"/>
      <p:bold r:id="rId23"/>
      <p:italic r:id="rId24"/>
      <p:boldItalic r:id="rId25"/>
    </p:embeddedFont>
    <p:embeddedFont>
      <p:font typeface="Pinyon Script"/>
      <p:regular r:id="rId26"/>
    </p:embeddedFont>
    <p:embeddedFont>
      <p:font typeface="Baskerville Old Face" panose="02020602080505020303" pitchFamily="18" charset="0"/>
      <p:regular r:id="rId27"/>
    </p:embeddedFont>
    <p:embeddedFont>
      <p:font typeface="Tahoma" panose="020B0604030504040204" pitchFamily="34" charset="0"/>
      <p:regular r:id="rId28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font" Target="fonts/font14.fntdata"/><Relationship Id="rId28" Type="http://schemas.openxmlformats.org/officeDocument/2006/relationships/font" Target="fonts/font13.fntdata"/><Relationship Id="rId27" Type="http://schemas.openxmlformats.org/officeDocument/2006/relationships/font" Target="fonts/font12.fntdata"/><Relationship Id="rId26" Type="http://schemas.openxmlformats.org/officeDocument/2006/relationships/font" Target="fonts/font11.fntdata"/><Relationship Id="rId25" Type="http://schemas.openxmlformats.org/officeDocument/2006/relationships/font" Target="fonts/font10.fntdata"/><Relationship Id="rId24" Type="http://schemas.openxmlformats.org/officeDocument/2006/relationships/font" Target="fonts/font9.fntdata"/><Relationship Id="rId23" Type="http://schemas.openxmlformats.org/officeDocument/2006/relationships/font" Target="fonts/font8.fntdata"/><Relationship Id="rId22" Type="http://schemas.openxmlformats.org/officeDocument/2006/relationships/font" Target="fonts/font7.fntdata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5" name="Google Shape;10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2" name="Google Shape;30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 panose="00000500000000000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4"/>
          <p:cNvSpPr txBox="1">
            <a:spLocks noGrp="1"/>
          </p:cNvSpPr>
          <p:nvPr>
            <p:ph type="title"/>
          </p:nvPr>
        </p:nvSpPr>
        <p:spPr>
          <a:xfrm>
            <a:off x="838199" y="932659"/>
            <a:ext cx="1091419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4"/>
          <p:cNvSpPr txBox="1">
            <a:spLocks noGrp="1"/>
          </p:cNvSpPr>
          <p:nvPr>
            <p:ph type="body" idx="1"/>
          </p:nvPr>
        </p:nvSpPr>
        <p:spPr>
          <a:xfrm>
            <a:off x="836425" y="2297668"/>
            <a:ext cx="10914195" cy="4058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29" name="Google Shape;29;p34" descr="Top Private University in India | MBA, BBA, B.Tech ...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 panose="00000500000000000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41" name="Google Shape;41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44" name="Google Shape;44;p36" descr="Top Private University in India | MBA, BBA, B.Tech ...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7"/>
          <p:cNvSpPr txBox="1">
            <a:spLocks noGrp="1"/>
          </p:cNvSpPr>
          <p:nvPr>
            <p:ph type="title"/>
          </p:nvPr>
        </p:nvSpPr>
        <p:spPr>
          <a:xfrm>
            <a:off x="839788" y="74789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8" name="Google Shape;48;p3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3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50" name="Google Shape;50;p3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54" name="Google Shape;54;p37" descr="Top Private University in India | MBA, BBA, B.Tech ...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8"/>
          <p:cNvSpPr txBox="1">
            <a:spLocks noGrp="1"/>
          </p:cNvSpPr>
          <p:nvPr>
            <p:ph type="title"/>
          </p:nvPr>
        </p:nvSpPr>
        <p:spPr>
          <a:xfrm>
            <a:off x="838199" y="932659"/>
            <a:ext cx="1091419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60" name="Google Shape;60;p38" descr="Top Private University in India | MBA, BBA, B.Tech ...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65" name="Google Shape;65;p39" descr="Top Private University in India | MBA, BBA, B.Tech ...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0"/>
          <p:cNvSpPr txBox="1"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 panose="000005000000000000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9" name="Google Shape;69;p4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73" name="Google Shape;73;p40" descr="Top Private University in India | MBA, BBA, B.Tech ...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1"/>
          <p:cNvSpPr txBox="1"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 panose="000005000000000000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4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81" name="Google Shape;81;p41" descr="Top Private University in India | MBA, BBA, B.Tech ...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2"/>
          <p:cNvSpPr txBox="1">
            <a:spLocks noGrp="1"/>
          </p:cNvSpPr>
          <p:nvPr>
            <p:ph type="title"/>
          </p:nvPr>
        </p:nvSpPr>
        <p:spPr>
          <a:xfrm>
            <a:off x="838199" y="932659"/>
            <a:ext cx="1091419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2"/>
          <p:cNvSpPr txBox="1">
            <a:spLocks noGrp="1"/>
          </p:cNvSpPr>
          <p:nvPr>
            <p:ph type="body" idx="1"/>
          </p:nvPr>
        </p:nvSpPr>
        <p:spPr>
          <a:xfrm rot="5400000">
            <a:off x="4264182" y="-1130089"/>
            <a:ext cx="4058682" cy="1091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88" name="Google Shape;88;p42" descr="Top Private University in India | MBA, BBA, B.Tech ...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3"/>
          <p:cNvSpPr txBox="1">
            <a:spLocks noGrp="1"/>
          </p:cNvSpPr>
          <p:nvPr>
            <p:ph type="title"/>
          </p:nvPr>
        </p:nvSpPr>
        <p:spPr>
          <a:xfrm rot="5400000">
            <a:off x="7446169" y="2269331"/>
            <a:ext cx="5186363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43"/>
          <p:cNvSpPr txBox="1">
            <a:spLocks noGrp="1"/>
          </p:cNvSpPr>
          <p:nvPr>
            <p:ph type="body" idx="1"/>
          </p:nvPr>
        </p:nvSpPr>
        <p:spPr>
          <a:xfrm rot="5400000">
            <a:off x="2112169" y="-283368"/>
            <a:ext cx="518636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95" name="Google Shape;95;p43" descr="Top Private University in India | MBA, BBA, B.Tech ...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png"/><Relationship Id="rId11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838199" y="932659"/>
            <a:ext cx="1091419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 panose="00000500000000000000"/>
              <a:buNone/>
              <a:defRPr sz="4400" b="0" i="0" u="none" strike="noStrike" cap="none">
                <a:solidFill>
                  <a:schemeClr val="dk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836425" y="2297668"/>
            <a:ext cx="10914195" cy="4058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2" name="Google Shape;12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3" name="Google Shape;13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4" name="Google Shape;14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15" name="Google Shape;15;p32" descr="Top Private University in India | MBA, BBA, B.Tech ..."/>
          <p:cNvPicPr preferRelativeResize="0"/>
          <p:nvPr/>
        </p:nvPicPr>
        <p:blipFill rotWithShape="1">
          <a:blip r:embed="rId11"/>
          <a:srcRect/>
          <a:stretch>
            <a:fillRect/>
          </a:stretch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2"/>
          <p:cNvPicPr preferRelativeResize="0"/>
          <p:nvPr/>
        </p:nvPicPr>
        <p:blipFill rotWithShape="1">
          <a:blip r:embed="rId12">
            <a:alphaModFix amt="7000"/>
          </a:blip>
          <a:srcRect/>
          <a:stretch>
            <a:fillRect/>
          </a:stretch>
        </p:blipFill>
        <p:spPr>
          <a:xfrm>
            <a:off x="1236794" y="2297668"/>
            <a:ext cx="9718411" cy="272115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>
            <a:spLocks noGrp="1"/>
          </p:cNvSpPr>
          <p:nvPr>
            <p:ph type="ctrTitle"/>
          </p:nvPr>
        </p:nvSpPr>
        <p:spPr>
          <a:xfrm>
            <a:off x="1524000" y="1332137"/>
            <a:ext cx="9144000" cy="19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US" sz="44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School of Computer Science and Engineering</a:t>
            </a:r>
            <a:br>
              <a:rPr lang="en-US" sz="44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3600" b="1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B.Tech</a:t>
            </a:r>
            <a:r>
              <a:rPr lang="en-US" sz="36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(CSE) </a:t>
            </a:r>
            <a:r>
              <a:rPr lang="en-GB" altLang="en-US" sz="36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7th</a:t>
            </a:r>
            <a:r>
              <a:rPr lang="en-US" sz="36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Semester</a:t>
            </a:r>
            <a:endParaRPr sz="4400" dirty="0"/>
          </a:p>
        </p:txBody>
      </p:sp>
      <p:sp>
        <p:nvSpPr>
          <p:cNvPr id="2" name="Google Shape;101;p1"/>
          <p:cNvSpPr txBox="1"/>
          <p:nvPr/>
        </p:nvSpPr>
        <p:spPr>
          <a:xfrm>
            <a:off x="620486" y="3580901"/>
            <a:ext cx="11179628" cy="1405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indent="0" algn="l">
              <a:spcBef>
                <a:spcPts val="0"/>
              </a:spcBef>
            </a:pPr>
            <a:endParaRPr lang="en-GB" altLang="en-US" b="1" dirty="0">
              <a:solidFill>
                <a:srgbClr val="9E0F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l">
              <a:spcBef>
                <a:spcPts val="0"/>
              </a:spcBef>
            </a:pPr>
            <a:r>
              <a:rPr lang="en-GB" altLang="en-US" b="1" dirty="0">
                <a:solidFill>
                  <a:srgbClr val="9E0F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Inernship</a:t>
            </a:r>
            <a:r>
              <a:rPr lang="en-US" b="1" dirty="0">
                <a:solidFill>
                  <a:srgbClr val="9E0F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Title</a:t>
            </a:r>
            <a:r>
              <a:rPr lang="en-IN" altLang="en-US" b="1" dirty="0">
                <a:solidFill>
                  <a:srgbClr val="9E0F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b="1" dirty="0">
                <a:solidFill>
                  <a:srgbClr val="9E0F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-</a:t>
            </a:r>
            <a:r>
              <a:rPr lang="en-IN" altLang="en-US" b="1" dirty="0">
                <a:solidFill>
                  <a:srgbClr val="9E0F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Data Analytics Internship</a:t>
            </a:r>
            <a:endParaRPr lang="en-IN" altLang="en-US" b="1" dirty="0">
              <a:solidFill>
                <a:srgbClr val="9E0F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l">
              <a:spcBef>
                <a:spcPts val="0"/>
              </a:spcBef>
            </a:pPr>
            <a:r>
              <a:rPr lang="en-IN" altLang="en-US" b="1" dirty="0">
                <a:solidFill>
                  <a:srgbClr val="9E0F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Organization Name - Edunet Foundation</a:t>
            </a:r>
            <a:endParaRPr lang="en-IN" altLang="en-US" b="1" dirty="0">
              <a:solidFill>
                <a:srgbClr val="9E0F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" name="Google Shape;101;p1"/>
          <p:cNvSpPr txBox="1"/>
          <p:nvPr/>
        </p:nvSpPr>
        <p:spPr>
          <a:xfrm>
            <a:off x="3853543" y="453794"/>
            <a:ext cx="3931920" cy="945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indent="0">
              <a:spcBef>
                <a:spcPts val="0"/>
              </a:spcBef>
            </a:pPr>
            <a:endParaRPr lang="en-US" b="1" dirty="0">
              <a:solidFill>
                <a:srgbClr val="9E0F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" name="Google Shape;101;p1"/>
          <p:cNvSpPr txBox="1"/>
          <p:nvPr/>
        </p:nvSpPr>
        <p:spPr>
          <a:xfrm>
            <a:off x="7508875" y="5095875"/>
            <a:ext cx="3754120" cy="1001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indent="0" algn="l">
              <a:spcBef>
                <a:spcPts val="0"/>
              </a:spcBef>
            </a:pPr>
            <a:r>
              <a:rPr lang="en-IN" altLang="en-US" b="1" dirty="0">
                <a:solidFill>
                  <a:schemeClr val="bg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Name </a:t>
            </a:r>
            <a:r>
              <a:rPr lang="en-US" b="1" dirty="0">
                <a:solidFill>
                  <a:schemeClr val="bg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-</a:t>
            </a:r>
            <a:r>
              <a:rPr lang="en-IN" altLang="en-US" b="1" dirty="0">
                <a:solidFill>
                  <a:schemeClr val="bg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Akshita Gupta</a:t>
            </a:r>
            <a:endParaRPr lang="en-IN" altLang="en-US" b="1" dirty="0">
              <a:solidFill>
                <a:schemeClr val="bg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l">
              <a:spcBef>
                <a:spcPts val="0"/>
              </a:spcBef>
            </a:pPr>
            <a:r>
              <a:rPr lang="en-IN" altLang="en-US" b="1" dirty="0">
                <a:solidFill>
                  <a:schemeClr val="bg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Roll no. - CS-23411283</a:t>
            </a:r>
            <a:endParaRPr lang="en-IN" altLang="en-US" b="1" dirty="0">
              <a:solidFill>
                <a:schemeClr val="bg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l">
              <a:spcBef>
                <a:spcPts val="0"/>
              </a:spcBef>
            </a:pPr>
            <a:r>
              <a:rPr lang="en-IN" altLang="en-US" b="1" dirty="0">
                <a:solidFill>
                  <a:schemeClr val="bg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Section - 4CSE13</a:t>
            </a:r>
            <a:endParaRPr lang="en-IN" altLang="en-US" b="1" dirty="0">
              <a:solidFill>
                <a:schemeClr val="bg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l">
              <a:spcBef>
                <a:spcPts val="0"/>
              </a:spcBef>
            </a:pPr>
            <a:endParaRPr lang="en-IN" altLang="en-US" b="1" dirty="0">
              <a:solidFill>
                <a:schemeClr val="bg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>
            <a:spLocks noGrp="1"/>
          </p:cNvSpPr>
          <p:nvPr>
            <p:ph type="title"/>
          </p:nvPr>
        </p:nvSpPr>
        <p:spPr>
          <a:xfrm>
            <a:off x="2699658" y="707572"/>
            <a:ext cx="7032172" cy="923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just">
              <a:buClr>
                <a:srgbClr val="585858"/>
              </a:buClr>
              <a:buSzPts val="3200"/>
              <a:buChar char="•"/>
            </a:pPr>
            <a:r>
              <a:rPr lang="en-US" dirty="0">
                <a:solidFill>
                  <a:srgbClr val="585858"/>
                </a:solidFill>
                <a:latin typeface="Corbel" panose="020B0503020204020204"/>
                <a:ea typeface="Corbel" panose="020B0503020204020204"/>
                <a:cs typeface="Corbel" panose="020B0503020204020204"/>
                <a:sym typeface="Corbel" panose="020B0503020204020204"/>
              </a:rPr>
              <a:t>Outlook of Presentation</a:t>
            </a:r>
            <a:endParaRPr lang="en-US" dirty="0"/>
          </a:p>
        </p:txBody>
      </p:sp>
      <p:sp>
        <p:nvSpPr>
          <p:cNvPr id="108" name="Google Shape;108;p2"/>
          <p:cNvSpPr txBox="1">
            <a:spLocks noGrp="1"/>
          </p:cNvSpPr>
          <p:nvPr>
            <p:ph type="body" idx="1"/>
          </p:nvPr>
        </p:nvSpPr>
        <p:spPr>
          <a:xfrm>
            <a:off x="836426" y="1753386"/>
            <a:ext cx="10810744" cy="4602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3200"/>
              <a:buChar char="•"/>
            </a:pPr>
            <a:endParaRPr lang="en-US" dirty="0"/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3200"/>
              <a:buChar char="•"/>
            </a:pPr>
            <a:endParaRPr lang="en-US" dirty="0"/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3200"/>
              <a:buChar char="•"/>
            </a:pPr>
            <a:r>
              <a:rPr lang="en-US" dirty="0"/>
              <a:t>Abstract</a:t>
            </a:r>
            <a:endParaRPr lang="en-US" dirty="0"/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3200"/>
              <a:buChar char="•"/>
            </a:pPr>
            <a:r>
              <a:rPr lang="en-US" dirty="0"/>
              <a:t>Introduction</a:t>
            </a:r>
            <a:endParaRPr lang="en-US" dirty="0"/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3200"/>
              <a:buChar char="•"/>
            </a:pPr>
            <a:r>
              <a:rPr lang="en-US" dirty="0"/>
              <a:t>Literature</a:t>
            </a:r>
            <a:r>
              <a:rPr lang="en-GB" altLang="en-US" dirty="0"/>
              <a:t> Review</a:t>
            </a:r>
            <a:endParaRPr lang="en-US" dirty="0"/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3200"/>
              <a:buChar char="•"/>
            </a:pPr>
            <a:r>
              <a:rPr lang="en-US" dirty="0"/>
              <a:t>Implementation</a:t>
            </a:r>
            <a:endParaRPr lang="en-US" dirty="0"/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3200"/>
              <a:buChar char="•"/>
            </a:pPr>
            <a:r>
              <a:rPr lang="en-US" dirty="0"/>
              <a:t>Results</a:t>
            </a:r>
            <a:endParaRPr lang="en-US" dirty="0"/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3200"/>
              <a:buChar char="•"/>
            </a:pPr>
            <a:r>
              <a:rPr lang="en-US" dirty="0"/>
              <a:t>Conclusion</a:t>
            </a:r>
            <a:endParaRPr lang="en-US" dirty="0"/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32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Abstract</a:t>
            </a:r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6295" y="2258060"/>
            <a:ext cx="10914380" cy="3610610"/>
          </a:xfrm>
        </p:spPr>
        <p:txBody>
          <a:bodyPr>
            <a:noAutofit/>
          </a:bodyPr>
          <a:p>
            <a:pPr marL="114300" indent="0">
              <a:buNone/>
            </a:pPr>
            <a:r>
              <a:rPr lang="en-US" altLang="en-US" sz="1600"/>
              <a:t>During my Data Analytics internship at Edunet Foundation under the VOIS for Tech Program, I gained practical experience in understanding and working with data. The internship included mentor-led sessions, hands-on activities, e-learning courses and project-based learning, which helped me connect theoretical concepts with practical applications.</a:t>
            </a:r>
            <a:endParaRPr lang="en-US" altLang="en-US" sz="1600"/>
          </a:p>
          <a:p>
            <a:pPr marL="114300" indent="0">
              <a:buNone/>
            </a:pPr>
            <a:r>
              <a:rPr lang="en-US" altLang="en-US" sz="1600"/>
              <a:t>Throughout the internship, I learned to use Python, Pandas, NumPy, Matplotlib and Seaborn for data analysis and visualization. I practiced exploring datasets, identifying patterns and trends, creating visualizations and interpreting the results. I also received an introduction to AI and Large Language Models (LLMs) and their use in supporting data analysis and report preparation.</a:t>
            </a:r>
            <a:endParaRPr lang="en-US" altLang="en-US" sz="1600"/>
          </a:p>
          <a:p>
            <a:pPr marL="114300" indent="0">
              <a:buNone/>
            </a:pPr>
            <a:r>
              <a:rPr lang="en-US" altLang="en-US" sz="1600"/>
              <a:t>As part of my project work, I completed Car Market Trends Analysis using Car Dekho Data and Exploring Global Terrorism Patterns and Trends. These projects allowed me to work with datasets from scratch and apply the concepts I learned during the internship.</a:t>
            </a:r>
            <a:endParaRPr lang="en-US" altLang="en-US" sz="1600"/>
          </a:p>
          <a:p>
            <a:pPr marL="114300" indent="0">
              <a:buNone/>
            </a:pPr>
            <a:r>
              <a:rPr lang="en-US" altLang="en-US" sz="1600"/>
              <a:t>Overall, the internship helped me improve my technical, analytical, and problem-solving skills and gave me greater confidence in working with real-world data and presenting meaningful insights from it.</a:t>
            </a:r>
            <a:endParaRPr lang="en-US" altLang="en-US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Introduction</a:t>
            </a:r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6295" y="2135505"/>
            <a:ext cx="10914380" cy="4220845"/>
          </a:xfrm>
        </p:spPr>
        <p:txBody>
          <a:bodyPr/>
          <a:p>
            <a:r>
              <a:rPr lang="en-US" altLang="en-US" sz="1600"/>
              <a:t>I completed a Data Analytics Internship at Edunet Foundation under the VOIS for Tech Program.</a:t>
            </a:r>
            <a:endParaRPr lang="en-US" altLang="en-US" sz="1600"/>
          </a:p>
          <a:p>
            <a:r>
              <a:rPr lang="en-US" altLang="en-US" sz="1600"/>
              <a:t>The internship focused on learning Data Analytics through mentor-led sessions, practical activities, courses and project-based learning.</a:t>
            </a:r>
            <a:endParaRPr lang="en-US" altLang="en-US" sz="1600"/>
          </a:p>
          <a:p>
            <a:r>
              <a:rPr lang="en-US" altLang="en-US" sz="1600"/>
              <a:t>I learned how to work with datasets using Python and different data analysis and visualization libraries.</a:t>
            </a:r>
            <a:endParaRPr lang="en-US" altLang="en-US" sz="1600"/>
          </a:p>
          <a:p>
            <a:r>
              <a:rPr lang="en-US" altLang="en-US" sz="1600"/>
              <a:t>The training included topics such as Data Analytics, AI &amp; LLMs, Python-based analysis, Data Visualization and dataset analysis.</a:t>
            </a:r>
            <a:endParaRPr lang="en-US" altLang="en-US" sz="1600"/>
          </a:p>
          <a:p>
            <a:r>
              <a:rPr lang="en-US" altLang="en-US" sz="1600"/>
              <a:t>I also worked on different datasets during the training sessions, which helped me understand how data analysis can be applied to different domains.</a:t>
            </a:r>
            <a:endParaRPr lang="en-US" altLang="en-US" sz="1600"/>
          </a:p>
          <a:p>
            <a:r>
              <a:rPr lang="en-US" altLang="en-US" sz="1600"/>
              <a:t>As part of the internship, I completed two major projects:</a:t>
            </a:r>
            <a:endParaRPr lang="en-US" altLang="en-US" sz="1600"/>
          </a:p>
          <a:p>
            <a:pPr marL="114300" indent="457200">
              <a:buNone/>
            </a:pPr>
            <a:r>
              <a:rPr lang="en-US" altLang="en-US" sz="1600"/>
              <a:t>Car Market Trends Analysis using Car Dekho Data</a:t>
            </a:r>
            <a:endParaRPr lang="en-US" altLang="en-US" sz="1600"/>
          </a:p>
          <a:p>
            <a:pPr marL="114300" indent="457200">
              <a:buNone/>
            </a:pPr>
            <a:r>
              <a:rPr lang="en-US" altLang="en-US" sz="1600"/>
              <a:t>Exploring Global Terrorism Patterns and Trends</a:t>
            </a:r>
            <a:endParaRPr lang="en-US" altLang="en-US" sz="1600"/>
          </a:p>
          <a:p>
            <a:r>
              <a:rPr lang="en-US" altLang="en-US" sz="1600"/>
              <a:t>Through these activities, I gained practical experience in data exploration, visualization, identifying patterns and interpreting insights</a:t>
            </a:r>
            <a:endParaRPr lang="en-US" altLang="en-US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Literature Review</a:t>
            </a:r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6295" y="2258060"/>
            <a:ext cx="10914380" cy="4098290"/>
          </a:xfrm>
        </p:spPr>
        <p:txBody>
          <a:bodyPr>
            <a:normAutofit lnSpcReduction="20000"/>
          </a:bodyPr>
          <a:p>
            <a:r>
              <a:rPr lang="en-US" altLang="en-US" sz="1600"/>
              <a:t>I studied the basic concepts of Data Analytics to understand how raw data can be examined and converted into useful information.</a:t>
            </a:r>
            <a:endParaRPr lang="en-US" altLang="en-US" sz="1600"/>
          </a:p>
          <a:p>
            <a:r>
              <a:rPr lang="en-US" altLang="en-US" sz="1600"/>
              <a:t>I explored different stages of the data analysis process, including data collection, data exploration, analysis, visualization, and interpretation.</a:t>
            </a:r>
            <a:endParaRPr lang="en-US" altLang="en-US" sz="1600"/>
          </a:p>
          <a:p>
            <a:r>
              <a:rPr lang="en-US" altLang="en-US" sz="1600"/>
              <a:t>I learned how Python can be used for handling and analyzing structured datasets, along with libraries such as Pandas, NumPy, Matplotlib, and Seaborn.</a:t>
            </a:r>
            <a:endParaRPr lang="en-US" altLang="en-US" sz="1600"/>
          </a:p>
          <a:p>
            <a:r>
              <a:rPr lang="en-US" altLang="en-US" sz="1600"/>
              <a:t>I reviewed Exploratory Data Analysis (EDA) techniques to understand the structure of a dataset, identify important variables, and discover patterns and trends.</a:t>
            </a:r>
            <a:endParaRPr lang="en-US" altLang="en-US" sz="1600"/>
          </a:p>
          <a:p>
            <a:r>
              <a:rPr lang="en-US" altLang="en-US" sz="1600"/>
              <a:t>I also studied Data Visualization and how graphs and charts can make analytical findings easier to understand and communicate.</a:t>
            </a:r>
            <a:endParaRPr lang="en-US" altLang="en-US" sz="1600"/>
          </a:p>
          <a:p>
            <a:r>
              <a:rPr lang="en-US" altLang="en-US" sz="1600"/>
              <a:t>As part of the internship training, I was introduced to Artificial Intelligence and Large Language Models (LLMs) and their use in supporting dataset analysis and report preparation.</a:t>
            </a:r>
            <a:endParaRPr lang="en-US" altLang="en-US" sz="1600"/>
          </a:p>
          <a:p>
            <a:r>
              <a:rPr lang="en-US" altLang="en-US" sz="1600"/>
              <a:t>The concepts learned during this stage provided the foundation for my practical work on the Car Market Trends Analysis and Global Terrorism Patterns and Trends projects.</a:t>
            </a:r>
            <a:endParaRPr lang="en-US" altLang="en-US" sz="1600"/>
          </a:p>
          <a:p>
            <a:r>
              <a:rPr lang="en-US" altLang="en-US" sz="1600"/>
              <a:t>The literature and learning activities helped me understand not only how to perform data analysis, but also the importance of interpreting the results and presenting them clearly.</a:t>
            </a:r>
            <a:endParaRPr lang="en-US" altLang="en-US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Implementation</a:t>
            </a:r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6295" y="2160905"/>
            <a:ext cx="10914380" cy="4384040"/>
          </a:xfrm>
        </p:spPr>
        <p:txBody>
          <a:bodyPr>
            <a:noAutofit/>
          </a:bodyPr>
          <a:p>
            <a:r>
              <a:rPr lang="en-US" altLang="en-US" sz="1600"/>
              <a:t>I started by loading and inspecting the datasets to understand their structure, columns, and available information.</a:t>
            </a:r>
            <a:endParaRPr lang="en-US" altLang="en-US" sz="1600"/>
          </a:p>
          <a:p>
            <a:r>
              <a:rPr lang="en-US" altLang="en-US" sz="1600"/>
              <a:t>I used Python as the main programming language for performing the analysis.</a:t>
            </a:r>
            <a:endParaRPr lang="en-US" altLang="en-US" sz="1600"/>
          </a:p>
          <a:p>
            <a:r>
              <a:rPr lang="en-US" altLang="en-US" sz="1600"/>
              <a:t>Pandas and NumPy were used for data handling, exploration, and numerical operations.</a:t>
            </a:r>
            <a:endParaRPr lang="en-US" altLang="en-US" sz="1600"/>
          </a:p>
          <a:p>
            <a:r>
              <a:rPr lang="en-US" altLang="en-US" sz="1600"/>
              <a:t>I performed data preprocessing and exploratory data analysis (EDA) to understand the datasets and identify useful variables.</a:t>
            </a:r>
            <a:endParaRPr lang="en-US" altLang="en-US" sz="1600"/>
          </a:p>
          <a:p>
            <a:r>
              <a:rPr lang="en-US" altLang="en-US" sz="1600"/>
              <a:t>I used Matplotlib and Seaborn to create graphs and visualizations for comparing categories, analyzing trends, and understanding relationships between variables.</a:t>
            </a:r>
            <a:endParaRPr lang="en-US" altLang="en-US" sz="1600"/>
          </a:p>
          <a:p>
            <a:r>
              <a:rPr lang="en-US" altLang="en-US" sz="1600"/>
              <a:t>For the Car Market Trends Analysis, I explored factors such as car price, manufacturing year, kilometres driven, fuel type, seller type, transmission and ownership.</a:t>
            </a:r>
            <a:endParaRPr lang="en-US" altLang="en-US" sz="1600"/>
          </a:p>
          <a:p>
            <a:r>
              <a:rPr lang="en-US" altLang="en-US" sz="1600"/>
              <a:t>For the Global Terrorism Analysis, I analyzed incidents, fatalities, injuries, hostages, scores, country rankings and year-wise trends.</a:t>
            </a:r>
            <a:endParaRPr lang="en-US" altLang="en-US" sz="1600"/>
          </a:p>
          <a:p>
            <a:r>
              <a:rPr lang="en-US" altLang="en-US" sz="1600"/>
              <a:t>I also performed correlation analysis in the terrorism project to understand relationships between the numerical variables.</a:t>
            </a:r>
            <a:endParaRPr lang="en-US" altLang="en-US" sz="1600"/>
          </a:p>
          <a:p>
            <a:r>
              <a:rPr lang="en-US" altLang="en-US" sz="1600"/>
              <a:t>Finally, I interpreted the visualizations and analytical results to identify meaningful patterns, trends and observations from both projects.</a:t>
            </a:r>
            <a:endParaRPr lang="en-US" altLang="en-US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Results</a:t>
            </a:r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6295" y="2113280"/>
            <a:ext cx="10914380" cy="4372610"/>
          </a:xfrm>
        </p:spPr>
        <p:txBody>
          <a:bodyPr>
            <a:noAutofit/>
          </a:bodyPr>
          <a:p>
            <a:pPr marL="114300" indent="0">
              <a:buNone/>
            </a:pPr>
            <a:r>
              <a:rPr lang="en-US" altLang="en-US" sz="1600" b="1"/>
              <a:t>Car Market Trends</a:t>
            </a:r>
            <a:endParaRPr lang="en-US" altLang="en-US" sz="1600" b="1"/>
          </a:p>
          <a:p>
            <a:r>
              <a:rPr lang="en-US" altLang="en-US" sz="1600"/>
              <a:t>Petrol cars were the most common in the dataset.</a:t>
            </a:r>
            <a:endParaRPr lang="en-US" altLang="en-US" sz="1600"/>
          </a:p>
          <a:p>
            <a:r>
              <a:rPr lang="en-US" altLang="en-US" sz="1600"/>
              <a:t>I analyzed factors such as price, fuel type, transmission, seller type and ownership.</a:t>
            </a:r>
            <a:endParaRPr lang="en-US" altLang="en-US" sz="1600"/>
          </a:p>
          <a:p>
            <a:r>
              <a:rPr lang="en-US" altLang="en-US" sz="1600"/>
              <a:t>The visualizations helped me understand the distribution of different car categories.</a:t>
            </a:r>
            <a:endParaRPr lang="en-US" altLang="en-US" sz="1600"/>
          </a:p>
          <a:p>
            <a:pPr marL="114300" indent="0">
              <a:buNone/>
            </a:pPr>
            <a:r>
              <a:rPr lang="en-US" altLang="en-US" sz="1600" b="1"/>
              <a:t>Global Terrorism Trends</a:t>
            </a:r>
            <a:endParaRPr lang="en-US" altLang="en-US" sz="1600" b="1"/>
          </a:p>
          <a:p>
            <a:r>
              <a:rPr lang="en-US" altLang="en-US" sz="1600"/>
              <a:t>Iraq recorded the highest number of incidents in the analyzed dataset.</a:t>
            </a:r>
            <a:endParaRPr lang="en-US" altLang="en-US" sz="1600"/>
          </a:p>
          <a:p>
            <a:r>
              <a:rPr lang="en-US" altLang="en-US" sz="1600"/>
              <a:t>I studied year-wise incidents and fatalities from 2012 to 2022.</a:t>
            </a:r>
            <a:endParaRPr lang="en-US" altLang="en-US" sz="1600"/>
          </a:p>
          <a:p>
            <a:r>
              <a:rPr lang="en-US" altLang="en-US" sz="1600"/>
              <a:t>I also compared countries to identify differences in terrorism-related incidents.</a:t>
            </a:r>
            <a:endParaRPr lang="en-US" altLang="en-US" sz="1600"/>
          </a:p>
          <a:p>
            <a:r>
              <a:rPr lang="en-US" altLang="en-US" sz="1600"/>
              <a:t>Strong relationships were observed between incidents, fatalities and injuries.</a:t>
            </a:r>
            <a:endParaRPr lang="en-US" altLang="en-US" sz="1600"/>
          </a:p>
          <a:p>
            <a:pPr marL="114300" indent="0">
              <a:buNone/>
            </a:pPr>
            <a:r>
              <a:rPr lang="en-US" altLang="en-US" sz="1600" b="1"/>
              <a:t>Overall</a:t>
            </a:r>
            <a:endParaRPr lang="en-US" altLang="en-US" sz="1600" b="1"/>
          </a:p>
          <a:p>
            <a:r>
              <a:rPr lang="en-US" altLang="en-US" sz="1600"/>
              <a:t>The projects helped me apply data analysis, visualization, trend analysi</a:t>
            </a:r>
            <a:r>
              <a:rPr lang="en-GB" altLang="en-US" sz="1600"/>
              <a:t>s</a:t>
            </a:r>
            <a:r>
              <a:rPr lang="en-US" altLang="en-US" sz="1600"/>
              <a:t> and correlation analysis to real datasets and convert the results into meaningful insights.</a:t>
            </a:r>
            <a:endParaRPr lang="en-US" altLang="en-US"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Conclusion</a:t>
            </a:r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6295" y="2101850"/>
            <a:ext cx="10914380" cy="4254500"/>
          </a:xfrm>
        </p:spPr>
        <p:txBody>
          <a:bodyPr>
            <a:noAutofit/>
          </a:bodyPr>
          <a:p>
            <a:r>
              <a:rPr lang="en-US" altLang="en-US" sz="1600"/>
              <a:t>This internship gave me valuable practical exposure to Data Analytics through mentor-led sessions, courses, hands-on activities and project-based learning.</a:t>
            </a:r>
            <a:endParaRPr lang="en-US" altLang="en-US" sz="1600"/>
          </a:p>
          <a:p>
            <a:r>
              <a:rPr lang="en-US" altLang="en-US" sz="1600"/>
              <a:t>I developed a better understanding of the complete data analysis process, starting from understanding and exploring a dataset to analyzing, visualizing and interpreting the results.</a:t>
            </a:r>
            <a:endParaRPr lang="en-US" altLang="en-US" sz="1600"/>
          </a:p>
          <a:p>
            <a:r>
              <a:rPr lang="en-US" altLang="en-US" sz="1600"/>
              <a:t>I gained hands-on experience with Python, Pandas, NumPy, Matplotlib and Seaborn and learned how these tools can be used to work with real datasets.</a:t>
            </a:r>
            <a:endParaRPr lang="en-US" altLang="en-US" sz="1600"/>
          </a:p>
          <a:p>
            <a:r>
              <a:rPr lang="en-US" altLang="en-US" sz="1600"/>
              <a:t>Through the Car Market Trends Analysis project, I explored different factors related to cars and identified patterns in the dataset.</a:t>
            </a:r>
            <a:endParaRPr lang="en-US" altLang="en-US" sz="1600"/>
          </a:p>
          <a:p>
            <a:r>
              <a:rPr lang="en-US" altLang="en-US" sz="1600"/>
              <a:t>Through the Global Terrorism Patterns and Trends project, I analyzed incidents, fatalities, country-wise trends, year-wise patterns and relationships between different variables.</a:t>
            </a:r>
            <a:endParaRPr lang="en-US" altLang="en-US" sz="1600"/>
          </a:p>
          <a:p>
            <a:r>
              <a:rPr lang="en-US" altLang="en-US" sz="1600"/>
              <a:t>Working on these projects from scratch helped me improve my problem-solving and analytical thinking abilities.</a:t>
            </a:r>
            <a:endParaRPr lang="en-US" altLang="en-US" sz="1600"/>
          </a:p>
          <a:p>
            <a:r>
              <a:rPr lang="en-US" altLang="en-US" sz="1600"/>
              <a:t>I also became more comfortable with data visualization, interpreting results and presenting insights in a structured way.</a:t>
            </a:r>
            <a:endParaRPr lang="en-US" altLang="en-US" sz="1600"/>
          </a:p>
          <a:p>
            <a:r>
              <a:rPr lang="en-US" altLang="en-US" sz="1600"/>
              <a:t>Overall, the internship strengthened my technical, analytical and professional skills and gave me greater confidence to work on future data-driven projects.</a:t>
            </a:r>
            <a:endParaRPr lang="en-US" altLang="en-US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1"/>
          <p:cNvSpPr txBox="1">
            <a:spLocks noGrp="1"/>
          </p:cNvSpPr>
          <p:nvPr>
            <p:ph type="title"/>
          </p:nvPr>
        </p:nvSpPr>
        <p:spPr>
          <a:xfrm>
            <a:off x="651710" y="1704474"/>
            <a:ext cx="10888579" cy="3449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00"/>
              <a:buFont typeface="Pinyon Script"/>
              <a:buNone/>
            </a:pPr>
            <a:r>
              <a:rPr lang="en-US" sz="19900" dirty="0">
                <a:latin typeface="Baskerville Old Face" panose="02020602080505020303" pitchFamily="18" charset="0"/>
                <a:ea typeface="Tahoma" panose="020B0604030504040204" pitchFamily="34" charset="0"/>
                <a:cs typeface="Tahoma" panose="020B0604030504040204" pitchFamily="34" charset="0"/>
                <a:sym typeface="Pinyon Script"/>
              </a:rPr>
              <a:t>Thank You</a:t>
            </a:r>
            <a:endParaRPr dirty="0">
              <a:latin typeface="Baskerville Old Face" panose="020206020805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6719</Words>
  <Application>WPS Presentation</Application>
  <PresentationFormat>Widescreen</PresentationFormat>
  <Paragraphs>90</Paragraphs>
  <Slides>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4" baseType="lpstr">
      <vt:lpstr>Arial</vt:lpstr>
      <vt:lpstr>SimSun</vt:lpstr>
      <vt:lpstr>Wingdings</vt:lpstr>
      <vt:lpstr>Arial</vt:lpstr>
      <vt:lpstr>Play</vt:lpstr>
      <vt:lpstr>Calibri</vt:lpstr>
      <vt:lpstr>Times New Roman</vt:lpstr>
      <vt:lpstr>Corbel</vt:lpstr>
      <vt:lpstr>Pinyon Script</vt:lpstr>
      <vt:lpstr>Baskerville Old Face</vt:lpstr>
      <vt:lpstr>Tahoma</vt:lpstr>
      <vt:lpstr>Microsoft YaHei</vt:lpstr>
      <vt:lpstr>Arial Unicode MS</vt:lpstr>
      <vt:lpstr>Times New Roman</vt:lpstr>
      <vt:lpstr>Office Theme</vt:lpstr>
      <vt:lpstr>School of Computer Science and Engineering B.Tech (CSE) 7th Semester</vt:lpstr>
      <vt:lpstr>Outlook of Presentation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of Computer Science and Engineering B.Tech (CSE) ….. Semester</dc:title>
  <dc:creator>Anil Saroliya</dc:creator>
  <cp:lastModifiedBy>Akshita Gupta</cp:lastModifiedBy>
  <cp:revision>10</cp:revision>
  <dcterms:created xsi:type="dcterms:W3CDTF">2025-07-19T19:52:00Z</dcterms:created>
  <dcterms:modified xsi:type="dcterms:W3CDTF">2026-08-24T14:20:59Z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8915AE4DB77A4B18BEDFCC3914BC6928_13</vt:lpwstr>
  </property>
  <property fmtid="{D5CDD505-2E9C-101B-9397-08002B2CF9AE}" pid="3" name="KSOProductBuildVer">
    <vt:lpwstr>1033-12.1.0.28032</vt:lpwstr>
  </property>
</Properties>
</file>